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6" r:id="rId15"/>
    <p:sldId id="270" r:id="rId16"/>
    <p:sldId id="285" r:id="rId17"/>
    <p:sldId id="271" r:id="rId18"/>
    <p:sldId id="272" r:id="rId19"/>
    <p:sldId id="277" r:id="rId20"/>
    <p:sldId id="273" r:id="rId21"/>
    <p:sldId id="278" r:id="rId22"/>
    <p:sldId id="287" r:id="rId23"/>
    <p:sldId id="275" r:id="rId24"/>
    <p:sldId id="276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25" autoAdjust="0"/>
  </p:normalViewPr>
  <p:slideViewPr>
    <p:cSldViewPr>
      <p:cViewPr>
        <p:scale>
          <a:sx n="66" d="100"/>
          <a:sy n="66" d="100"/>
        </p:scale>
        <p:origin x="-72" y="-4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0ACFA-99B9-4ED6-A867-4610EA30878B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790F-CCCB-4D58-9C8D-9BA4AFA501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59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3E790F-CCCB-4D58-9C8D-9BA4AFA501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24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3E790F-CCCB-4D58-9C8D-9BA4AFA5018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703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87468"/>
            <a:ext cx="7315200" cy="194626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74898"/>
            <a:ext cx="7315200" cy="858474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63179"/>
            <a:ext cx="7315200" cy="970194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898823"/>
            <a:ext cx="7315200" cy="82382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158537"/>
            <a:ext cx="7315200" cy="86557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057400"/>
            <a:ext cx="3566160" cy="269519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057401"/>
            <a:ext cx="3566160" cy="269676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057400"/>
            <a:ext cx="3364992" cy="466344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057400"/>
            <a:ext cx="3362062" cy="466344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158537"/>
            <a:ext cx="7315200" cy="86557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2537460"/>
            <a:ext cx="3566160" cy="221513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2537460"/>
            <a:ext cx="3566160" cy="221513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69022"/>
            <a:ext cx="2950936" cy="1629761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370032"/>
            <a:ext cx="4207848" cy="3357461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045822"/>
            <a:ext cx="2950936" cy="16840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2953512" cy="1632204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1714500"/>
            <a:ext cx="4038600" cy="25146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044952"/>
            <a:ext cx="2953512" cy="16870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370032"/>
            <a:ext cx="1492499" cy="336334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370032"/>
            <a:ext cx="5241476" cy="336334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430355"/>
            <a:ext cx="86236" cy="429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569419" y="430355"/>
            <a:ext cx="576072" cy="429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158537"/>
            <a:ext cx="7315200" cy="8655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077375"/>
            <a:ext cx="7315200" cy="265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411597"/>
            <a:ext cx="1189132" cy="223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DE9ED957-EEB7-46A0-A52F-D426FC631FC8}" type="datetimeFigureOut">
              <a:rPr lang="en-US" smtClean="0"/>
              <a:t>21-Dec-25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411598"/>
            <a:ext cx="941203" cy="226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BEFE318-A26F-4EAB-8252-8DD8F27029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641968"/>
            <a:ext cx="2246489" cy="225920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aggle.com/datasets/uciml/pima-indians-diabetes-databas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alamhasnain457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696200" cy="97155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Bridging the Generalizability Gap in Diabetes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09950"/>
            <a:ext cx="7696200" cy="160020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Organization: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Silicon Global Tech Gilgit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Presenter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Hasnain Alam </a:t>
            </a: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Organization: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Silicon Global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Tech</a:t>
            </a: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Department: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Artificial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Intelligence and Data Science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Supervisor: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Mr. Hafizuddin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52550"/>
            <a:ext cx="7543800" cy="199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5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4300"/>
            <a:ext cx="7848600" cy="6286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 and Motivation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57250"/>
            <a:ext cx="4572000" cy="21717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Global Health Crisis: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Diabetes Mellitus has escalated into a worldwide emergency, with millions undiagnosed and at risk of irreversible complications.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Shift to Preventative Care: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Moving from reactive treatment to proactive AI-driven risk identification.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123950"/>
            <a:ext cx="4183361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57200" y="3028950"/>
            <a:ext cx="807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 "Dirty Data" Challenge: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Clinical datasets are sparse and plagued by MNAR (Missing Not At Random) </a:t>
            </a:r>
            <a:r>
              <a:rPr lang="en-US" dirty="0" smtClean="0"/>
              <a:t>gaps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Problem of Bias: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Traditional imputation methods, like filling gaps with simple averages, introduce massive bias and distort a patient's true clinical picture.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Motivation for NR-HIE: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There is an urgent need for noise-resilient algorithms that can handle "Missing Not At Random" (MNAR) data without sacrificing diagnostic accuracy.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52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4300"/>
            <a:ext cx="7315200" cy="57982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Project Aim and Objectives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685801"/>
            <a:ext cx="8150225" cy="1276349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Goal: </a:t>
            </a:r>
            <a:r>
              <a:rPr lang="en-US" sz="1600" dirty="0" smtClean="0"/>
              <a:t>Engineer </a:t>
            </a:r>
            <a:r>
              <a:rPr lang="en-US" sz="1600" dirty="0"/>
              <a:t>the </a:t>
            </a:r>
            <a:r>
              <a:rPr lang="en-US" sz="1600" b="1" dirty="0"/>
              <a:t>Noise-Resilient Hybrid Imputation–Ensemble (NR-HIE)</a:t>
            </a:r>
            <a:r>
              <a:rPr lang="en-US" sz="1600" dirty="0"/>
              <a:t> framework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/>
              <a:t>Noise Resilience:</a:t>
            </a:r>
            <a:r>
              <a:rPr lang="en-US" sz="1600" dirty="0"/>
              <a:t> Actively learn from missing data patterns rather than deleting </a:t>
            </a:r>
            <a:r>
              <a:rPr lang="en-US" sz="1600" dirty="0" smtClean="0"/>
              <a:t>them</a:t>
            </a:r>
          </a:p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Redefine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Imputation as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Shift from treating preprocessing as a separate cleaning step to treating imputation as an integral part of the learning process itself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https://lh3.googleusercontent.com/gg-dl/ABS2GSkCF3AL-buobjIz-f_VDRV-cZVVRSnxoEuMxRf8HmLtS2fwojHGYdK6-nby6dQ61M0A2W69HdM3-qwqTcdcBa1gILAFcfc4dUCNau5U70g5MwPRVU-EFxR4gHl8WiW4OtvKiwNhlzUeJNesRwDUXJirrzkA12RLYKt4cS7NiegKUb-ZYQ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AutoShape 4" descr="https://lh3.googleusercontent.com/gg-dl/ABS2GSkCF3AL-buobjIz-f_VDRV-cZVVRSnxoEuMxRf8HmLtS2fwojHGYdK6-nby6dQ61M0A2W69HdM3-qwqTcdcBa1gILAFcfc4dUCNau5U70g5MwPRVU-EFxR4gHl8WiW4OtvKiwNhlzUeJNesRwDUXJirrzkA12RLYKt4cS7NiegKUb-ZYQ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237595"/>
            <a:ext cx="3886200" cy="173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675" y="2413065"/>
            <a:ext cx="4949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Generate multiple "views" of data (MICE, KNN, Robust) to prevent information loss and capture both global and local data structures.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Bridge the Generalizability Gap: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/>
              <a:t>Validate performance on an unseen external cohort (DiaBD) to prevent overfitting.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b="1" dirty="0"/>
              <a:t>Interpretability:</a:t>
            </a:r>
            <a:r>
              <a:rPr lang="en-US" sz="1400" dirty="0"/>
              <a:t> Ensure "Black Box" transparency using SHAP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b="1" dirty="0"/>
              <a:t>Statistical Rigor:</a:t>
            </a:r>
            <a:r>
              <a:rPr lang="en-US" sz="1400" dirty="0"/>
              <a:t> Target significant improvements in F1-Score and Calibration (Brier Score).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0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14300"/>
            <a:ext cx="4572000" cy="49881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2451370"/>
            <a:ext cx="4625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400" dirty="0" smtClean="0"/>
              <a:t>.</a:t>
            </a:r>
            <a:endParaRPr lang="en-US" sz="1400" dirty="0" smtClean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886" y="1600757"/>
            <a:ext cx="4282068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590550"/>
            <a:ext cx="4557486" cy="4419600"/>
          </a:xfrm>
        </p:spPr>
        <p:txBody>
          <a:bodyPr>
            <a:normAutofit/>
          </a:bodyPr>
          <a:lstStyle/>
          <a:p>
            <a:r>
              <a:rPr lang="en-US" b="1" dirty="0"/>
              <a:t>Core:</a:t>
            </a:r>
            <a:r>
              <a:rPr lang="en-US" dirty="0"/>
              <a:t> Python 3.x, VS Code, Pandas, NumPy.</a:t>
            </a:r>
          </a:p>
          <a:p>
            <a:r>
              <a:rPr lang="en-US" b="1" dirty="0"/>
              <a:t>Machine Learning:</a:t>
            </a:r>
            <a:r>
              <a:rPr lang="en-US" dirty="0"/>
              <a:t> Scikit-Learn (Imputation/Base </a:t>
            </a:r>
            <a:r>
              <a:rPr lang="en-US" dirty="0" smtClean="0"/>
              <a:t>Models)</a:t>
            </a:r>
          </a:p>
          <a:p>
            <a:r>
              <a:rPr lang="en-US" b="1" dirty="0" smtClean="0"/>
              <a:t>XGBoost</a:t>
            </a:r>
            <a:r>
              <a:rPr lang="en-US" dirty="0" smtClean="0"/>
              <a:t> </a:t>
            </a:r>
            <a:r>
              <a:rPr lang="en-US" dirty="0"/>
              <a:t>(Gradient Boosting).</a:t>
            </a:r>
          </a:p>
          <a:p>
            <a:r>
              <a:rPr lang="en-US" b="1" dirty="0"/>
              <a:t>Statistical Validation:</a:t>
            </a:r>
            <a:endParaRPr lang="en-US" dirty="0"/>
          </a:p>
          <a:p>
            <a:r>
              <a:rPr lang="en-US" b="1" dirty="0"/>
              <a:t>Brier Score:</a:t>
            </a:r>
            <a:r>
              <a:rPr lang="en-US" dirty="0"/>
              <a:t> For probabilistic calibration </a:t>
            </a:r>
            <a:endParaRPr lang="en-US" dirty="0" smtClean="0"/>
          </a:p>
          <a:p>
            <a:r>
              <a:rPr lang="en-US" b="1" dirty="0" smtClean="0"/>
              <a:t>Wilcoxon </a:t>
            </a:r>
            <a:r>
              <a:rPr lang="en-US" b="1" dirty="0"/>
              <a:t>Signed-Rank Test:</a:t>
            </a:r>
            <a:r>
              <a:rPr lang="en-US" dirty="0"/>
              <a:t> For statistical significance </a:t>
            </a:r>
            <a:r>
              <a:rPr lang="en-US" dirty="0" smtClean="0"/>
              <a:t>(p </a:t>
            </a:r>
            <a:r>
              <a:rPr lang="en-US" dirty="0"/>
              <a:t>&lt; </a:t>
            </a:r>
            <a:r>
              <a:rPr lang="en-US" dirty="0" smtClean="0"/>
              <a:t>0.05).</a:t>
            </a:r>
            <a:endParaRPr lang="en-US" dirty="0"/>
          </a:p>
          <a:p>
            <a:r>
              <a:rPr lang="en-US" b="1" dirty="0" err="1"/>
              <a:t>Explainability</a:t>
            </a:r>
            <a:r>
              <a:rPr lang="en-US" b="1" dirty="0"/>
              <a:t>:</a:t>
            </a:r>
            <a:r>
              <a:rPr lang="en-US" dirty="0"/>
              <a:t> SHAP (Shapley Additive </a:t>
            </a:r>
            <a:r>
              <a:rPr lang="en-US" dirty="0" err="1"/>
              <a:t>exPlanations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4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8575"/>
            <a:ext cx="6019800" cy="5143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628650"/>
            <a:ext cx="8686800" cy="2705100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" indent="0" algn="r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Source: </a:t>
            </a:r>
            <a:r>
              <a:rPr lang="en-US" sz="1200" dirty="0">
                <a:hlinkClick r:id="rId2"/>
              </a:rPr>
              <a:t>https://</a:t>
            </a:r>
            <a:r>
              <a:rPr lang="en-US" sz="1200" dirty="0" smtClean="0">
                <a:hlinkClick r:id="rId2"/>
              </a:rPr>
              <a:t>www.kaggle.com/datasets/uciml/pima-indians-diabetes-database</a:t>
            </a:r>
            <a:endParaRPr lang="en-US" sz="1200" dirty="0" smtClean="0"/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Dataset Description: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/>
              <a:t>Primary Dataset:</a:t>
            </a:r>
            <a:r>
              <a:rPr lang="en-US" dirty="0"/>
              <a:t> Pima Indians Diabetes Database (PIDD).</a:t>
            </a:r>
          </a:p>
          <a:p>
            <a:r>
              <a:rPr lang="en-US" b="1" dirty="0"/>
              <a:t>Demographics:</a:t>
            </a:r>
            <a:r>
              <a:rPr lang="en-US" dirty="0"/>
              <a:t> 768 female patient records.</a:t>
            </a:r>
          </a:p>
          <a:p>
            <a:r>
              <a:rPr lang="en-US" b="1" dirty="0"/>
              <a:t>Diagnostic Features (8):</a:t>
            </a:r>
            <a:r>
              <a:rPr lang="en-US" dirty="0"/>
              <a:t> Pregnancies, Glucose, </a:t>
            </a:r>
            <a:r>
              <a:rPr lang="en-US" dirty="0" err="1"/>
              <a:t>BloodPressure</a:t>
            </a:r>
            <a:r>
              <a:rPr lang="en-US" dirty="0"/>
              <a:t>, </a:t>
            </a:r>
            <a:r>
              <a:rPr lang="en-US" dirty="0" err="1"/>
              <a:t>SkinThickness</a:t>
            </a:r>
            <a:r>
              <a:rPr lang="en-US" dirty="0"/>
              <a:t>, Insulin, BMI, </a:t>
            </a:r>
            <a:r>
              <a:rPr lang="en-US" dirty="0" err="1"/>
              <a:t>DiabetesPedigreeFunction</a:t>
            </a:r>
            <a:r>
              <a:rPr lang="en-US" dirty="0"/>
              <a:t>, Age.</a:t>
            </a:r>
          </a:p>
          <a:p>
            <a:r>
              <a:rPr lang="en-US" b="1" dirty="0"/>
              <a:t>Target:</a:t>
            </a:r>
            <a:r>
              <a:rPr lang="en-US" dirty="0"/>
              <a:t> Outcome (0: Non-Diabetic, 1: Diabetic</a:t>
            </a:r>
            <a:r>
              <a:rPr lang="en-US" dirty="0" smtClean="0"/>
              <a:t>).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86150"/>
            <a:ext cx="8001000" cy="1423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481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28701"/>
            <a:ext cx="6248400" cy="400049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Loaded the Pima Indian Diabetes dataset into a Pandas 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028950"/>
            <a:ext cx="3962400" cy="2017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57150"/>
            <a:ext cx="7467600" cy="5715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Exploratory Data Analysis (EDA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85900"/>
            <a:ext cx="8001000" cy="1423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9600" y="3257550"/>
            <a:ext cx="388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Check shape and structure to </a:t>
            </a:r>
          </a:p>
          <a:p>
            <a:pPr marL="4572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understand the data.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Found 768 rows and 8 columns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Analyzed “Outcome” as target vector.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09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151"/>
            <a:ext cx="7315200" cy="5715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Exploratory Data Analysis (EDA</a:t>
            </a:r>
            <a:endParaRPr lang="en-US" sz="3200" b="1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27699"/>
            <a:ext cx="8350660" cy="1620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93700" y="705366"/>
            <a:ext cx="814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Analyzed statistical summary to check the dispersion and detect anomalies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2853593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Analyzed missing values but found no missing values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892705"/>
            <a:ext cx="2371725" cy="121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93700" y="3112175"/>
            <a:ext cx="289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Captured zeroes as missing values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Revealed massive "Hidden Missingness."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Insulin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was missing in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48%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cases;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SkinThickness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29%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300" y="3499924"/>
            <a:ext cx="2743200" cy="1345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79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575"/>
            <a:ext cx="7086600" cy="6286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Feature Distribution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Analysis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667768"/>
            <a:ext cx="8382000" cy="3386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7500" y="590550"/>
            <a:ext cx="8597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Feature Distribution:</a:t>
            </a:r>
            <a:endParaRPr lang="en-US" sz="1600" dirty="0"/>
          </a:p>
          <a:p>
            <a:r>
              <a:rPr lang="en-US" sz="1600" b="1" dirty="0"/>
              <a:t>Normal-Like:</a:t>
            </a:r>
            <a:r>
              <a:rPr lang="en-US" sz="1600" dirty="0"/>
              <a:t> Glucose, </a:t>
            </a:r>
            <a:r>
              <a:rPr lang="en-US" sz="1600" dirty="0" err="1"/>
              <a:t>BloodPressure</a:t>
            </a:r>
            <a:r>
              <a:rPr lang="en-US" sz="1600" dirty="0"/>
              <a:t>.</a:t>
            </a:r>
          </a:p>
          <a:p>
            <a:r>
              <a:rPr lang="en-US" sz="1600" b="1" dirty="0"/>
              <a:t>Right-Skewed:</a:t>
            </a:r>
            <a:r>
              <a:rPr lang="en-US" sz="1600" dirty="0"/>
              <a:t> Insulin, </a:t>
            </a:r>
            <a:r>
              <a:rPr lang="en-US" sz="1600" dirty="0" err="1"/>
              <a:t>SkinThickness</a:t>
            </a:r>
            <a:r>
              <a:rPr lang="en-US" sz="1600" dirty="0"/>
              <a:t>, </a:t>
            </a:r>
            <a:r>
              <a:rPr lang="en-US" sz="1600" dirty="0" err="1"/>
              <a:t>DiabetesPedigreeFunction</a:t>
            </a:r>
            <a:endParaRPr lang="en-US" sz="1600" dirty="0"/>
          </a:p>
          <a:p>
            <a:r>
              <a:rPr lang="en-US" sz="1600" dirty="0" smtClean="0"/>
              <a:t>BMI </a:t>
            </a:r>
            <a:r>
              <a:rPr lang="en-US" sz="1600" dirty="0" smtClean="0"/>
              <a:t>showed slightly right </a:t>
            </a:r>
            <a:r>
              <a:rPr lang="en-US" sz="1600" dirty="0" smtClean="0"/>
              <a:t>skewed </a:t>
            </a:r>
            <a:r>
              <a:rPr lang="en-US" sz="1600" dirty="0" smtClean="0"/>
              <a:t>distribution.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499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038350"/>
            <a:ext cx="3464998" cy="294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000" y="209550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Class Imbalance:</a:t>
            </a:r>
            <a:r>
              <a:rPr lang="en-US" dirty="0"/>
              <a:t> </a:t>
            </a:r>
            <a:endParaRPr lang="en-US" dirty="0" smtClean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65.1</a:t>
            </a:r>
            <a:r>
              <a:rPr lang="en-US" dirty="0"/>
              <a:t>% Non-Diabetic vs. 34.9% Diabetic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330208"/>
            <a:ext cx="4117630" cy="375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19400" y="187823"/>
            <a:ext cx="6573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Created a Correlation Matrix to identify predictive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signals 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multicollinearity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Glucose</a:t>
            </a:r>
            <a:r>
              <a:rPr lang="en-US" dirty="0"/>
              <a:t> showed the strongest correlation with the target. Strong multicollinearity found between </a:t>
            </a:r>
            <a:r>
              <a:rPr lang="en-US" b="1" dirty="0"/>
              <a:t>Age</a:t>
            </a:r>
            <a:r>
              <a:rPr lang="en-US" dirty="0"/>
              <a:t> and </a:t>
            </a:r>
            <a:r>
              <a:rPr lang="en-US" b="1" dirty="0"/>
              <a:t>Pregnancies</a:t>
            </a:r>
            <a:r>
              <a:rPr lang="en-US" dirty="0"/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55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0800"/>
            <a:ext cx="5410200" cy="6858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Outlier Detection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42951"/>
            <a:ext cx="8763000" cy="1371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Insulin: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Extreme outliers detected (Max value: 846 µU/ml).</a:t>
            </a:r>
          </a:p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DiabetesPedigreeFunction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Showed outliers representing patients with a very strong genetic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history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Problem: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Standard scaling (Min-Max) would compress the useful data range to accommodate these few extremes.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338363"/>
            <a:ext cx="5486400" cy="280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2209800"/>
            <a:ext cx="3505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The Solution: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/>
              <a:t>Applied </a:t>
            </a:r>
            <a:r>
              <a:rPr lang="en-US" sz="1600" b="1" dirty="0" err="1"/>
              <a:t>RobustScaler</a:t>
            </a:r>
            <a:r>
              <a:rPr lang="en-US" sz="1600" dirty="0"/>
              <a:t> (IQR-based) to mitigate outlier influence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Mechanism: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Scales data based on the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Interquartile Range (IQR)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(25th to 75th percentile), effectively rendering the model resilient to these extreme outliers.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40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76200"/>
            <a:ext cx="41910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Preprocessing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42431"/>
            <a:ext cx="8715374" cy="2672319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Implemented the proposed Noise-Resilient Hybrid Imputation(NRHIE) framework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First data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split into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80% Training and 20% Test set with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 of 42.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Instead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relying on a single imputation method (which introduces bias), we engineered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Triple-Stream Approach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maximize information retention.</a:t>
            </a:r>
          </a:p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MICE (Multivariate Imputation by Chained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Equations)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/>
              <a:t>Captures </a:t>
            </a:r>
            <a:r>
              <a:rPr lang="en-US" dirty="0"/>
              <a:t>correlations between features (e.g., Age vs. Insulin</a:t>
            </a:r>
            <a:r>
              <a:rPr lang="en-US" dirty="0" smtClean="0"/>
              <a:t>).</a:t>
            </a:r>
          </a:p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2: KNN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(K-Nearest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Neighbors)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/>
              <a:t>Preserves </a:t>
            </a:r>
            <a:r>
              <a:rPr lang="en-US" dirty="0"/>
              <a:t>patient similarity clusters </a:t>
            </a:r>
            <a:r>
              <a:rPr lang="en-US" dirty="0" smtClean="0"/>
              <a:t>(k=5).</a:t>
            </a:r>
          </a:p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Robust Statistics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Constant/Median)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/>
              <a:t>Fills gaps with constants to allow trees to split on "missingness</a:t>
            </a:r>
            <a:r>
              <a:rPr lang="en-US" dirty="0" smtClean="0"/>
              <a:t>.“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7800" y="67310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Solving the "Missing Not At Random" (MNAR)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Problem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599" y="3714750"/>
            <a:ext cx="3838575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1000" y="3714750"/>
            <a:ext cx="45339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Leakage Prevention Protocol: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§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Crucially, all imputers are fitted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strictly on the Training Set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 The Test Set is transformed using these "frozen" parameters to prevent data leakage.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67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3350"/>
            <a:ext cx="8382000" cy="65121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Feature Engineering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&amp; Stacking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971550"/>
            <a:ext cx="4952999" cy="33528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Feature Space Expansion (Concatenation):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/>
              <a:t>Merged streams into a rich 24-feature vector.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Level-0: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Base Learners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Logistic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Regression: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For linear decision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boundaries.</a:t>
            </a:r>
          </a:p>
          <a:p>
            <a:pPr>
              <a:buFont typeface="Wingdings" pitchFamily="2" charset="2"/>
              <a:buChar char="§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Forest: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For variance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reduction.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For bias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reduction.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Level-1: The Meta-Learner: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/>
              <a:t>Algorithm:</a:t>
            </a:r>
            <a:r>
              <a:rPr lang="en-US" sz="1600" dirty="0"/>
              <a:t> Logistic Regression with L2 Ridge Regularization.</a:t>
            </a:r>
          </a:p>
          <a:p>
            <a:r>
              <a:rPr lang="en-US" sz="1600" b="1" dirty="0"/>
              <a:t>Role:</a:t>
            </a:r>
            <a:r>
              <a:rPr lang="en-US" sz="1600" dirty="0"/>
              <a:t> Dynamically weights the most reliable imputation stream for each patient</a:t>
            </a:r>
            <a:r>
              <a:rPr lang="en-US" sz="1600" dirty="0" smtClean="0"/>
              <a:t>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733425"/>
            <a:ext cx="3640137" cy="437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626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150"/>
            <a:ext cx="6019800" cy="57501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Comprehensive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81051"/>
            <a:ext cx="8915400" cy="1485900"/>
          </a:xfrm>
        </p:spPr>
        <p:txBody>
          <a:bodyPr>
            <a:normAutofit fontScale="92500"/>
          </a:bodyPr>
          <a:lstStyle/>
          <a:p>
            <a:pPr marL="320040" lvl="1" indent="0">
              <a:buNone/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Standard accuracy is insufficient for medical screening where the cost of missing a disease is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high.</a:t>
            </a:r>
          </a:p>
          <a:p>
            <a:pPr marL="320040" lvl="1" indent="0">
              <a:buNone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Selected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a multi-dimensional metric set to evaluate safety, stability, and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reliability</a:t>
            </a: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  <a:p>
            <a:pPr marL="320040" lvl="1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Evaluation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Metrics: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 marL="320040" lvl="1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Confusion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Matrix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To explicitly quantify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False Negatives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, minimizing the risk of missing diabetic patients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ALI COMPUTERs\Downloads\Screenshot_19-11-2025_19757_www.bing.com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45" y="4241165"/>
            <a:ext cx="2683510" cy="768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66950"/>
            <a:ext cx="48768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7200" y="3486150"/>
            <a:ext cx="32004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Recall:</a:t>
            </a:r>
          </a:p>
          <a:p>
            <a:pPr marL="285750" lvl="1" indent="-285750">
              <a:buFont typeface="Wingdings" pitchFamily="2" charset="2"/>
              <a:buChar char="§"/>
            </a:pPr>
            <a:r>
              <a:rPr lang="en-US" sz="1600" dirty="0" smtClean="0"/>
              <a:t>to </a:t>
            </a:r>
            <a:r>
              <a:rPr lang="en-US" sz="1600" dirty="0"/>
              <a:t>minimize False Negatives.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0845" y="2266950"/>
            <a:ext cx="1371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 smtClean="0"/>
              <a:t>Precision:</a:t>
            </a:r>
            <a:endParaRPr lang="en-US" sz="17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645" y="2620893"/>
            <a:ext cx="2421922" cy="636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00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7150"/>
            <a:ext cx="6019800" cy="57501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Comprehensive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315"/>
            <a:ext cx="3886200" cy="1257299"/>
          </a:xfrm>
        </p:spPr>
        <p:txBody>
          <a:bodyPr>
            <a:normAutofit/>
          </a:bodyPr>
          <a:lstStyle/>
          <a:p>
            <a:pPr marL="320040" lvl="1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F1-Score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Used to balance Precision and Recall, ensuring the model doesn't just predict the majority class (Non-Diabetic).</a:t>
            </a:r>
          </a:p>
          <a:p>
            <a:pPr marL="320040" lvl="1" indent="0">
              <a:buNone/>
            </a:pPr>
            <a:endParaRPr lang="en-US" sz="17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20040" lvl="1" indent="0">
              <a:buNone/>
            </a:pP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546600" y="742950"/>
            <a:ext cx="4152900" cy="5715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548" y="4139565"/>
            <a:ext cx="2400300" cy="84963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548" y="1591881"/>
            <a:ext cx="3048952" cy="1715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800" y="3022006"/>
            <a:ext cx="5029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Probabilistic Reliability (The Brier Score):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assess "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Calibration“ how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close the predicted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   probability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(e.g., 85% risk) is to the actual outcome.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Mean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Squared Difference between predicted probability and actual outcome. A lower score indicates higher trust.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0200" y="1872764"/>
            <a:ext cx="42672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ROC-AUC: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Benchmarks the model's global ability to rank a random diabetic patient higher than a healthy one, independent of threshold.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0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1750"/>
            <a:ext cx="60198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External Validation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90550"/>
            <a:ext cx="8534400" cy="43434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Testing Generalizability on Unseen Populations</a:t>
            </a:r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rigorously test if the model can handle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Dataset Shift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—a common failure mode where AI fails on new patient demographics.</a:t>
            </a:r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External Dataset (DiaBD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Utilized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DiaBD (Bangladesh)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cohort containing 5,288 patient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records.</a:t>
            </a:r>
          </a:p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Demographic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Alignment: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Filtered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Features alignment as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Pima training set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7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1750"/>
            <a:ext cx="60198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External Validation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90550"/>
            <a:ext cx="8534400" cy="43434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Strict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"Frozen"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Protocol: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Retraining: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model was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retrained on the Bangladesh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data.</a:t>
            </a:r>
          </a:p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Pipeline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Reuse: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exact preprocessing pipeline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RobustScaler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Imputers) fitted on Pima data was applied to transform the DiaBD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data.</a:t>
            </a:r>
          </a:p>
          <a:p>
            <a:pPr marL="45720" indent="0">
              <a:buNone/>
            </a:pP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Significance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This replicates a real-world scenario where a deployed model encounters entirely new patients.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7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33350"/>
            <a:ext cx="5334000" cy="53821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Explainable AI (XAI)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19150"/>
            <a:ext cx="8839200" cy="4114799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Bridging the "Black Box" Trust Gap</a:t>
            </a:r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Interpretability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Challenge: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Ensemble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models (Stacking) are complex "Black Boxes." Clinicians cannot blindly trust a probability score without understanding the "Why".</a:t>
            </a:r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Solution: SHAP (Shapley Additive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exPlanations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Adopted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game-theoretic approach to assign a "contribution value" to each feature for every prediction.</a:t>
            </a:r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Analysis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Levels: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Global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Interpretability: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Used Summary Plots to rank features (e.g., Glucose, BMI) across the entire population to verify biological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validity.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Clinical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Validation: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Checked if the model's top predictors aligned with established medical literature (e.g., verifying that Glucose is the #1 predictor).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5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350"/>
            <a:ext cx="6705600" cy="51916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Results and Discussions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590550"/>
            <a:ext cx="8382000" cy="23622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Baseline Performance &amp;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Optimization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base learners (Logistic Regression, Random Forest, XGBoost) were initially trained with default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hyperparameters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Finding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Without tuning, models prioritized "overall correctness" over detecting the disease, leading to high False Negative rates (Type II Errors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45720" indent="0">
              <a:buNone/>
            </a:pP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Baseline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Accuracy: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Random Forest led with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75.32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%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925190"/>
              </p:ext>
            </p:extLst>
          </p:nvPr>
        </p:nvGraphicFramePr>
        <p:xfrm>
          <a:off x="609600" y="3028950"/>
          <a:ext cx="8001000" cy="1752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  <a:gridCol w="1600200"/>
              </a:tblGrid>
              <a:tr h="425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Model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Precision (Weighted)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Recall (Weighted)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F1-Score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751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Logistic Regression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72.08%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0.72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0.72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0.6504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258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75.32%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0.75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0.75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0.6780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258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XGBoost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74.68%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0.74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0.75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0.6723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00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350"/>
            <a:ext cx="6705600" cy="51916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Results and Discussions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590550"/>
            <a:ext cx="7848600" cy="2133600"/>
          </a:xfrm>
        </p:spPr>
        <p:txBody>
          <a:bodyPr>
            <a:normAutofit fontScale="92500"/>
          </a:bodyPr>
          <a:lstStyle/>
          <a:p>
            <a:pPr marL="45720" indent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Hyperparameter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Tuning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Impact: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Strategy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Grid Search CV optimization of </a:t>
            </a:r>
            <a:r>
              <a:rPr lang="en-US" dirty="0" err="1"/>
              <a:t>n_estimators</a:t>
            </a:r>
            <a:r>
              <a:rPr lang="en-US" dirty="0"/>
              <a:t>, </a:t>
            </a:r>
            <a:r>
              <a:rPr lang="en-US" dirty="0" err="1"/>
              <a:t>max_depth</a:t>
            </a:r>
            <a:r>
              <a:rPr lang="en-US" dirty="0"/>
              <a:t>, and </a:t>
            </a:r>
            <a:r>
              <a:rPr lang="en-US" dirty="0" smtClean="0"/>
              <a:t>C.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Quantitative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Gain: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Tuning yielded a statistically meaningful improvement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1.5% to 2.0%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across all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models.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Result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Tuned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Random Forest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accuracy rose to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77.27%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XGBoost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rose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76.62%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86655"/>
              </p:ext>
            </p:extLst>
          </p:nvPr>
        </p:nvGraphicFramePr>
        <p:xfrm>
          <a:off x="914400" y="2946464"/>
          <a:ext cx="7391400" cy="19112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</a:tblGrid>
              <a:tr h="4778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Model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Baseline Accuracy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Tuned Accuracy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Improvement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Tuned F1-Score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77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Logistic Regression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72.08%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73.38%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+1.30%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0.6612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77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75.32%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77.27%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+1.95%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0.6957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778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XGBoost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74.68%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76.62%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+1.94%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0.6604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00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350"/>
            <a:ext cx="6172200" cy="5953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Internal Validation (NR-HIE Ensemble)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42951"/>
            <a:ext cx="8001000" cy="129539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/>
              <a:t>NR-HIE Stacking Performance:</a:t>
            </a:r>
            <a:endParaRPr lang="en-US" b="1" dirty="0" smtClean="0"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NR-HIE Stacking Ensemble achieved an internal accuracy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77.27%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numerically identical to the single best Random Forest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023165"/>
              </p:ext>
            </p:extLst>
          </p:nvPr>
        </p:nvGraphicFramePr>
        <p:xfrm>
          <a:off x="228600" y="2724150"/>
          <a:ext cx="8641398" cy="22355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0466"/>
                <a:gridCol w="2880466"/>
                <a:gridCol w="2880466"/>
              </a:tblGrid>
              <a:tr h="3861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Metric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Tuned Single Best (RF)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NR-HIE Meta-Learner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623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77.27%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77.27% (More Robust)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623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F1-Score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0.6957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0.6729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623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Precision (Class 1)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0.68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623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Recall (Class 1)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0.65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350"/>
            <a:ext cx="6172200" cy="5953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Internal Validation (NR-HIE Ensemble)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42951"/>
            <a:ext cx="4267200" cy="396239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Confusion Matrix Deep Dive (Safety Check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True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Negatives (TN): 83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Healthy patients correctly cleared.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True Positives (TP): 36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Diabetic patients correctly flagged.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False Negatives (FN): 19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Minimized to reduce the risk of missed diagnoses.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False Positives (FP): 16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53000" y="1379855"/>
            <a:ext cx="4047490" cy="376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0"/>
            <a:ext cx="8305800" cy="555964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Externa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l Validation (The Generalizability Test)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333750"/>
            <a:ext cx="8458200" cy="1550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800" y="908734"/>
            <a:ext cx="86868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External validation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dataset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331470" indent="-285750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external validation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DaiBD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(A Diabetes Dataset for Enhanced Risk Analysis and Research in Bangladesh) dataset was employed. This dataset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contains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5,288 patient records and 14 Features. Key features include age, gender, pulse rate, blood pressure (systolic and diastolic), glucose level, BMI, and family history of diabetes, hypertension, and cardiovascular disease.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52800" y="553818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Source: https://data.mendeley.com/datasets/m8cgwxs9s6/2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92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350"/>
            <a:ext cx="8610600" cy="74776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External Validation (The Generalizability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71551"/>
            <a:ext cx="8534400" cy="1904999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"Generalizability Surge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Contrary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the typical performance drop seen in cross-demographic testing, the NR-HIE framework's performance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improved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Forest Accuracy: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80.26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%.</a:t>
            </a:r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NR-HIE Stacking Accuracy: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81.62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%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" indent="0">
              <a:buNone/>
            </a:pPr>
            <a:r>
              <a:rPr lang="en-US" dirty="0" smtClean="0"/>
              <a:t>F1-Score dropped </a:t>
            </a:r>
            <a:r>
              <a:rPr lang="en-US" dirty="0"/>
              <a:t>to 0.29 due to prevalence shift, but ROC-AUC (0.767) confirms robust ranking.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332559"/>
              </p:ext>
            </p:extLst>
          </p:nvPr>
        </p:nvGraphicFramePr>
        <p:xfrm>
          <a:off x="533400" y="2876550"/>
          <a:ext cx="8229600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Metric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Best Single Model (Random Forest)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NR-HIE Stacking Ensemble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26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80.26%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81.62%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26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F1-Score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0.2658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0.2905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26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AUC-ROC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0.7495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0.7669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26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Brier Score (Calibration)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0.1302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0.1273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25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350"/>
            <a:ext cx="8610600" cy="74776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External Validation (The Generalizability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19150"/>
            <a:ext cx="3886200" cy="417195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Metric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Variance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Analysis: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F1-Score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Shift: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Dropped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0.2905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 external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data.</a:t>
            </a:r>
          </a:p>
          <a:p>
            <a:pPr marL="45720" indent="0">
              <a:buNone/>
            </a:pP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Reason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This is due to the drastic difference in class prevalence between the Pima and Bangladesh datasets, not model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failure.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Stability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superior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ROC-AUC (0.7669)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Calibration scores confirm the model remains robust despite this demographic shift.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254500" y="1790699"/>
            <a:ext cx="4876800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5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1750"/>
            <a:ext cx="5791200" cy="5191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Explainability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&amp; Clinical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4350"/>
            <a:ext cx="4038600" cy="4629150"/>
          </a:xfrm>
        </p:spPr>
        <p:txBody>
          <a:bodyPr>
            <a:normAutofit fontScale="77500" lnSpcReduction="20000"/>
          </a:bodyPr>
          <a:lstStyle/>
          <a:p>
            <a:pPr marL="4572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Validating Biological Relevance with SHAP</a:t>
            </a:r>
          </a:p>
          <a:p>
            <a:pPr marL="4572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Objective: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verify that the high accuracy is driven by genuine physiological patterns, not data artifacts.</a:t>
            </a:r>
          </a:p>
          <a:p>
            <a:pPr marL="45720" indent="0">
              <a:buNone/>
            </a:pPr>
            <a:r>
              <a:rPr lang="en-US" b="1" dirty="0"/>
              <a:t>Global Interpretability:</a:t>
            </a:r>
            <a:endParaRPr lang="en-US" dirty="0"/>
          </a:p>
          <a:p>
            <a:r>
              <a:rPr lang="en-US" b="1" dirty="0"/>
              <a:t>Glucose:</a:t>
            </a:r>
            <a:r>
              <a:rPr lang="en-US" dirty="0"/>
              <a:t> #1 Predictor (Biologically validated).</a:t>
            </a:r>
          </a:p>
          <a:p>
            <a:r>
              <a:rPr lang="en-US" b="1" dirty="0"/>
              <a:t>BMI &amp; Age:</a:t>
            </a:r>
            <a:r>
              <a:rPr lang="en-US" dirty="0"/>
              <a:t> Strong secondary predictors</a:t>
            </a:r>
            <a:r>
              <a:rPr lang="en-US" dirty="0" smtClean="0"/>
              <a:t>..</a:t>
            </a:r>
            <a:endParaRPr lang="en-US" dirty="0"/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Age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Consistently predictive across the population.</a:t>
            </a:r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Low-Impact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Features: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Features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like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SkinThickness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had lower impact, confirming the model correctly prioritized stronger biomarkers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" indent="0">
              <a:buNone/>
            </a:pPr>
            <a:r>
              <a:rPr lang="en-US" b="1" dirty="0"/>
              <a:t>Trust:</a:t>
            </a:r>
            <a:r>
              <a:rPr lang="en-US" dirty="0"/>
              <a:t> Low impact of noise features confirms the model is learning valid physiology, not artifacts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114800" y="590550"/>
            <a:ext cx="4905375" cy="427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6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31750"/>
            <a:ext cx="3581400" cy="51916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742950"/>
            <a:ext cx="7315200" cy="3950045"/>
          </a:xfrm>
        </p:spPr>
        <p:txBody>
          <a:bodyPr>
            <a:normAutofit fontScale="62500" lnSpcReduction="20000"/>
          </a:bodyPr>
          <a:lstStyle/>
          <a:p>
            <a:pPr marL="45720" indent="0">
              <a:buNone/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Bridging the Gap Between Theory and Practice</a:t>
            </a:r>
          </a:p>
          <a:p>
            <a:pPr marL="45720" indent="0">
              <a:buNone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Proof of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Concept: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study successfully validated that the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NR-HIE Framework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mitigates performance degradation when transferring models between medical populations.</a:t>
            </a:r>
          </a:p>
          <a:p>
            <a:pPr marL="45720" indent="0">
              <a:buNone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Key Technical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Achievements: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Reconstruction: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Hybrid Imputation successfully restored the distribution of missing markers like Insulin and Skin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Thickness.</a:t>
            </a:r>
          </a:p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Optimization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Gains: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 err="1">
                <a:latin typeface="Times New Roman" pitchFamily="18" charset="0"/>
                <a:cs typeface="Times New Roman" pitchFamily="18" charset="0"/>
              </a:rPr>
              <a:t>Hyperparameter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tuning delivered a consistent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1.5% - 2%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accuracy boost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61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31750"/>
            <a:ext cx="3581400" cy="51916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742950"/>
            <a:ext cx="7315200" cy="3950045"/>
          </a:xfrm>
        </p:spPr>
        <p:txBody>
          <a:bodyPr>
            <a:normAutofit fontScale="47500" lnSpcReduction="20000"/>
          </a:bodyPr>
          <a:lstStyle/>
          <a:p>
            <a:pPr marL="45720" indent="0">
              <a:buNone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"Generalizability"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Breakthrough: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000" dirty="0"/>
              <a:t>Achieved superior generalizability (81.62% on external data</a:t>
            </a:r>
            <a:r>
              <a:rPr lang="en-US" sz="4000" dirty="0" smtClean="0"/>
              <a:t>). </a:t>
            </a:r>
          </a:p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counter-intuitive success proves the Meta-Learner filtered out dataset-specific noise.</a:t>
            </a:r>
          </a:p>
          <a:p>
            <a:pPr marL="45720" indent="0">
              <a:buNone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Clinical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Safety: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low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Brier Score (0.1273)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confirms the model provides well-calibrated, realistic risk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probabilities.</a:t>
            </a:r>
          </a:p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SHAP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verified reliance on medically valid features (Glucose, BMI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45720" indent="0">
              <a:buNone/>
            </a:pPr>
            <a:r>
              <a:rPr lang="en-US" sz="4000" b="1" dirty="0"/>
              <a:t>Key Takeaway:</a:t>
            </a:r>
            <a:endParaRPr lang="en-US" sz="4000" dirty="0"/>
          </a:p>
          <a:p>
            <a:r>
              <a:rPr lang="en-US" sz="4000" b="1" dirty="0"/>
              <a:t>"The NR-HIE framework proves that </a:t>
            </a:r>
            <a:r>
              <a:rPr lang="en-US" sz="4000" b="1" i="1" dirty="0"/>
              <a:t>how</a:t>
            </a:r>
            <a:r>
              <a:rPr lang="en-US" sz="4000" b="1" dirty="0"/>
              <a:t> you handle missing data is just as critical as </a:t>
            </a:r>
            <a:r>
              <a:rPr lang="en-US" sz="4000" b="1" i="1" dirty="0"/>
              <a:t>which</a:t>
            </a:r>
            <a:r>
              <a:rPr lang="en-US" sz="4000" b="1" dirty="0"/>
              <a:t> classifier you use."</a:t>
            </a:r>
            <a:endParaRPr lang="en-US" sz="4000" dirty="0"/>
          </a:p>
          <a:p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61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4419600" cy="59536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895351"/>
            <a:ext cx="7315200" cy="383667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Boundaries of the Current Implementation</a:t>
            </a:r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Demographic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Bias: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primary training data (Pima Indians) consists exclusively of female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patients.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Impact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current model is recommended strictly for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female patient populations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application to males requires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retraining.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Dataset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Scalability: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Internal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validation relied on a small sample size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(n=768).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Impact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Restricted the use of deep learning architectures (like LSTMs) which require massive data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converge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33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0"/>
            <a:ext cx="4419600" cy="67156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895351"/>
            <a:ext cx="7315200" cy="383667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Roadmap to Global Deployment</a:t>
            </a:r>
          </a:p>
          <a:p>
            <a:r>
              <a:rPr lang="en-US" b="1" dirty="0"/>
              <a:t>Longitudinal:</a:t>
            </a:r>
            <a:r>
              <a:rPr lang="en-US" dirty="0"/>
              <a:t> Integrate LSTMs for time-series risk prediction.</a:t>
            </a:r>
          </a:p>
          <a:p>
            <a:r>
              <a:rPr lang="en-US" b="1" dirty="0"/>
              <a:t>Global Model:</a:t>
            </a:r>
            <a:r>
              <a:rPr lang="en-US" dirty="0"/>
              <a:t> Retrain on diverse male/female datasets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Multimodal Learning: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Integrate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unstructured data like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Retinal Images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(for diabetic retinopathy) alongside tabular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26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2000" y="31750"/>
            <a:ext cx="49022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pPr algn="ctr"/>
            <a:r>
              <a:rPr lang="en-US" sz="8800" dirty="0" smtClean="0"/>
              <a:t>Thank You</a:t>
            </a:r>
            <a:endParaRPr lang="en-US" sz="8800" dirty="0"/>
          </a:p>
        </p:txBody>
      </p:sp>
      <p:sp>
        <p:nvSpPr>
          <p:cNvPr id="3" name="TextBox 2"/>
          <p:cNvSpPr txBox="1"/>
          <p:nvPr/>
        </p:nvSpPr>
        <p:spPr>
          <a:xfrm>
            <a:off x="1600200" y="3409950"/>
            <a:ext cx="609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Presenter: Hasnain Alam</a:t>
            </a:r>
          </a:p>
          <a:p>
            <a:pPr algn="ctr"/>
            <a:r>
              <a:rPr lang="en-US" dirty="0" smtClean="0"/>
              <a:t>Contact: </a:t>
            </a:r>
            <a:r>
              <a:rPr lang="en-US" dirty="0" smtClean="0">
                <a:hlinkClick r:id="rId3"/>
              </a:rPr>
              <a:t>alamhasnain457@gmail.com</a:t>
            </a:r>
            <a:r>
              <a:rPr lang="en-US" dirty="0" smtClean="0"/>
              <a:t>	</a:t>
            </a:r>
          </a:p>
          <a:p>
            <a:pPr algn="ctr"/>
            <a:r>
              <a:rPr lang="en-US" dirty="0" smtClean="0"/>
              <a:t>Phone: 92-355-4286542	</a:t>
            </a:r>
          </a:p>
        </p:txBody>
      </p:sp>
    </p:spTree>
    <p:extLst>
      <p:ext uri="{BB962C8B-B14F-4D97-AF65-F5344CB8AC3E}">
        <p14:creationId xmlns:p14="http://schemas.microsoft.com/office/powerpoint/2010/main" val="29440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389</TotalTime>
  <Words>2191</Words>
  <Application>Microsoft Office PowerPoint</Application>
  <PresentationFormat>On-screen Show (16:9)</PresentationFormat>
  <Paragraphs>286</Paragraphs>
  <Slides>30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Perspective</vt:lpstr>
      <vt:lpstr>Bridging the Generalizability Gap in Diabetes Prediction</vt:lpstr>
      <vt:lpstr>Introduction and Motivation</vt:lpstr>
      <vt:lpstr>Project Aim and Objectives</vt:lpstr>
      <vt:lpstr>Tools &amp; Technologies</vt:lpstr>
      <vt:lpstr>Methodology</vt:lpstr>
      <vt:lpstr>Exploratory Data Analysis (EDA</vt:lpstr>
      <vt:lpstr>Exploratory Data Analysis (EDA</vt:lpstr>
      <vt:lpstr>Feature Distribution Analysis</vt:lpstr>
      <vt:lpstr>PowerPoint Presentation</vt:lpstr>
      <vt:lpstr>Outlier Detection</vt:lpstr>
      <vt:lpstr>Preprocessing </vt:lpstr>
      <vt:lpstr>Feature Engineering &amp; Stacking Architecture</vt:lpstr>
      <vt:lpstr>Comprehensive Evaluation Framework</vt:lpstr>
      <vt:lpstr>Comprehensive Evaluation Framework</vt:lpstr>
      <vt:lpstr>External Validation Protocol</vt:lpstr>
      <vt:lpstr>External Validation Protocol</vt:lpstr>
      <vt:lpstr>Explainable AI (XAI) Strategy</vt:lpstr>
      <vt:lpstr>Results and Discussions</vt:lpstr>
      <vt:lpstr>Results and Discussions</vt:lpstr>
      <vt:lpstr>Internal Validation (NR-HIE Ensemble)</vt:lpstr>
      <vt:lpstr>Internal Validation (NR-HIE Ensemble)</vt:lpstr>
      <vt:lpstr>External Validation (The Generalizability Test)</vt:lpstr>
      <vt:lpstr>External Validation (The Generalizability Test)</vt:lpstr>
      <vt:lpstr>External Validation (The Generalizability Test)</vt:lpstr>
      <vt:lpstr>Explainability &amp; Clinical Trust</vt:lpstr>
      <vt:lpstr>Conclusion</vt:lpstr>
      <vt:lpstr>Conclusion</vt:lpstr>
      <vt:lpstr>Limitations</vt:lpstr>
      <vt:lpstr>Future Work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Bridging the Generalizability Gap in Diabetes Prediction</dc:title>
  <dc:creator>ALI COMPUTERs</dc:creator>
  <cp:lastModifiedBy>ALI COMPUTERs</cp:lastModifiedBy>
  <cp:revision>44</cp:revision>
  <dcterms:created xsi:type="dcterms:W3CDTF">2025-12-20T18:43:44Z</dcterms:created>
  <dcterms:modified xsi:type="dcterms:W3CDTF">2025-12-21T17:17:03Z</dcterms:modified>
</cp:coreProperties>
</file>